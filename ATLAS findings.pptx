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256" r:id="rId2"/>
    <p:sldId id="257" r:id="rId3"/>
    <p:sldId id="258" r:id="rId4"/>
    <p:sldId id="260" r:id="rId5"/>
    <p:sldId id="259"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7" d="100"/>
          <a:sy n="87" d="100"/>
        </p:scale>
        <p:origin x="499"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1B96A82-73AE-4DFD-9C15-018A5BA4C20C}" type="datetimeFigureOut">
              <a:rPr lang="en-IN" smtClean="0"/>
              <a:t>12-03-2021</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913390E-793C-4E9E-83CF-08014773CF0C}" type="slidenum">
              <a:rPr lang="en-IN" smtClean="0"/>
              <a:t>‹#›</a:t>
            </a:fld>
            <a:endParaRPr lang="en-IN"/>
          </a:p>
        </p:txBody>
      </p:sp>
    </p:spTree>
    <p:extLst>
      <p:ext uri="{BB962C8B-B14F-4D97-AF65-F5344CB8AC3E}">
        <p14:creationId xmlns:p14="http://schemas.microsoft.com/office/powerpoint/2010/main" val="14859455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913390E-793C-4E9E-83CF-08014773CF0C}" type="slidenum">
              <a:rPr lang="en-IN" smtClean="0"/>
              <a:t>3</a:t>
            </a:fld>
            <a:endParaRPr lang="en-IN"/>
          </a:p>
        </p:txBody>
      </p:sp>
    </p:spTree>
    <p:extLst>
      <p:ext uri="{BB962C8B-B14F-4D97-AF65-F5344CB8AC3E}">
        <p14:creationId xmlns:p14="http://schemas.microsoft.com/office/powerpoint/2010/main" val="30471547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325701-FDCA-43E1-A388-CEDACE5925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ED8975D-113F-47D4-B1D1-155D74DD94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EFB2EDE-115B-41E2-843E-08E89BA815E3}"/>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5" name="Footer Placeholder 4">
            <a:extLst>
              <a:ext uri="{FF2B5EF4-FFF2-40B4-BE49-F238E27FC236}">
                <a16:creationId xmlns:a16="http://schemas.microsoft.com/office/drawing/2014/main" id="{68F413D0-8510-4001-859B-E3C09E6D7F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5E33311-2EE4-46A2-ADF8-4ED0DCD58526}"/>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4186266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5CA49C-D4B7-40CC-965A-2748068167B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BE19D10-0B87-4DC7-BF76-0E53952E5F7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AE6CA79-D1E9-4313-86BB-01A35784B6B9}"/>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5" name="Footer Placeholder 4">
            <a:extLst>
              <a:ext uri="{FF2B5EF4-FFF2-40B4-BE49-F238E27FC236}">
                <a16:creationId xmlns:a16="http://schemas.microsoft.com/office/drawing/2014/main" id="{BFE77E4E-0745-4561-8B9C-3AE88FE9A31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91981CE-526C-40B2-B639-3B61E335D297}"/>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3028485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6FB77-038A-4F73-84D9-EF0CB29E691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CD7BD64-CE5A-4139-A964-B7FDFA82076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7E52E09-CE5E-40B2-8180-45C08B044AD9}"/>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5" name="Footer Placeholder 4">
            <a:extLst>
              <a:ext uri="{FF2B5EF4-FFF2-40B4-BE49-F238E27FC236}">
                <a16:creationId xmlns:a16="http://schemas.microsoft.com/office/drawing/2014/main" id="{6EA6579D-9B20-43DB-A168-AEEB2939943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01A27AB-0E64-4166-821C-67B450D36587}"/>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119893069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B94A57-B518-4893-AF2B-217B5256A72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10B7F006-B2D1-4F32-84E1-2CACB2FFAA3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7FFF1FB-1E9C-4793-B91B-E52DF9C693C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27C8D6-16B8-4F24-8335-3CD12AAC5BFE}"/>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6" name="Footer Placeholder 5">
            <a:extLst>
              <a:ext uri="{FF2B5EF4-FFF2-40B4-BE49-F238E27FC236}">
                <a16:creationId xmlns:a16="http://schemas.microsoft.com/office/drawing/2014/main" id="{0C426432-370D-483E-8D3F-3FBCF97D79CF}"/>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8ADB520-8951-4738-986C-A369033C3FCC}"/>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31763587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3EC81-FC68-4809-B256-393C0E96B9B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71E248B7-3837-4F85-8E60-2C7D4786BE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5434CB9-51FA-4E93-B545-1871A1F8F7A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D373B9BE-5AAD-4D90-BF59-96190CF48D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61758D8-EF71-471F-8746-DE03057FE47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A856DFF-EFF8-40EA-A175-531D979C8C99}"/>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8" name="Footer Placeholder 7">
            <a:extLst>
              <a:ext uri="{FF2B5EF4-FFF2-40B4-BE49-F238E27FC236}">
                <a16:creationId xmlns:a16="http://schemas.microsoft.com/office/drawing/2014/main" id="{2AC7A023-7B2B-4A4C-AE8D-EF7EDD4CC5A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F33937BC-18CE-414E-A0AB-90849D86EDCD}"/>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2976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5FFA32-A3E8-4E26-AD7C-851E395BB0F8}"/>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7FFE3754-79E6-4EC1-B4C6-A8B6A3D4834C}"/>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4" name="Footer Placeholder 3">
            <a:extLst>
              <a:ext uri="{FF2B5EF4-FFF2-40B4-BE49-F238E27FC236}">
                <a16:creationId xmlns:a16="http://schemas.microsoft.com/office/drawing/2014/main" id="{A71E1623-ACCB-4B80-85EA-606A1F70B39B}"/>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33E09BB6-B28D-4D0B-A742-D79CE5EEAA5E}"/>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3025219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022B1C7-7511-4F98-93F7-1505E1D564FD}"/>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3" name="Footer Placeholder 2">
            <a:extLst>
              <a:ext uri="{FF2B5EF4-FFF2-40B4-BE49-F238E27FC236}">
                <a16:creationId xmlns:a16="http://schemas.microsoft.com/office/drawing/2014/main" id="{1DA5DC3F-A086-4931-A7A6-A7FDF62E080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5C6BB2D-EA9C-496E-8859-50C043942FB3}"/>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421134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DB3E78-55B0-44F5-8E81-09B4BD7CC76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43C70A1-D780-4F7D-B556-457FB0D4F3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F7454FF-51D7-45EE-AE4E-549DD1D96F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A73EB40-49D8-44E6-9EC9-2D11E4D4BF0D}"/>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6" name="Footer Placeholder 5">
            <a:extLst>
              <a:ext uri="{FF2B5EF4-FFF2-40B4-BE49-F238E27FC236}">
                <a16:creationId xmlns:a16="http://schemas.microsoft.com/office/drawing/2014/main" id="{8F6FEFCD-D4C3-4655-B0AC-91A605A60869}"/>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113477-8268-40D2-ACA3-A5A04BA64691}"/>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238873192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352A3E-8CAA-40BF-926C-0B1CE89310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C2194906-4C37-4FC3-ABF8-B477ECCF17E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A5497F3-8A2E-43EC-BC8F-3D6EE5536B3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D623C3C-67B5-45DC-A460-717F00D66894}"/>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6" name="Footer Placeholder 5">
            <a:extLst>
              <a:ext uri="{FF2B5EF4-FFF2-40B4-BE49-F238E27FC236}">
                <a16:creationId xmlns:a16="http://schemas.microsoft.com/office/drawing/2014/main" id="{35449745-11A0-4559-8C48-92B8C0A7D15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1CAB805-75E8-4CAC-B13A-1198504731BB}"/>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22578044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BEBAE-B9F6-483C-9162-14CF08EA511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42B033A-E312-4D9C-83F4-E7BAE75C83C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368779D-DA34-48BB-BE49-D8AEC0B28FEA}"/>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5" name="Footer Placeholder 4">
            <a:extLst>
              <a:ext uri="{FF2B5EF4-FFF2-40B4-BE49-F238E27FC236}">
                <a16:creationId xmlns:a16="http://schemas.microsoft.com/office/drawing/2014/main" id="{C466ED2C-4612-45DC-8116-4ED7287D6E6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3B472C-207C-4D22-8BC1-291BFADEB19B}"/>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337258949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2C689A6-151B-492C-95D5-63EC3B18CD8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7FA8BE0-BE19-42D3-AC54-B7FC7F82C25E}"/>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C3CC69-9E3E-4BE0-8C58-A3C365201EB7}"/>
              </a:ext>
            </a:extLst>
          </p:cNvPr>
          <p:cNvSpPr>
            <a:spLocks noGrp="1"/>
          </p:cNvSpPr>
          <p:nvPr>
            <p:ph type="dt" sz="half" idx="10"/>
          </p:nvPr>
        </p:nvSpPr>
        <p:spPr/>
        <p:txBody>
          <a:bodyPr/>
          <a:lstStyle/>
          <a:p>
            <a:fld id="{4316AC95-69DC-4D2C-BA95-EDBD267FC3F2}" type="datetimeFigureOut">
              <a:rPr lang="en-IN" smtClean="0"/>
              <a:t>12-03-2021</a:t>
            </a:fld>
            <a:endParaRPr lang="en-IN"/>
          </a:p>
        </p:txBody>
      </p:sp>
      <p:sp>
        <p:nvSpPr>
          <p:cNvPr id="5" name="Footer Placeholder 4">
            <a:extLst>
              <a:ext uri="{FF2B5EF4-FFF2-40B4-BE49-F238E27FC236}">
                <a16:creationId xmlns:a16="http://schemas.microsoft.com/office/drawing/2014/main" id="{A21AFBC5-9937-49A7-BA02-483C649D9B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E046EE8-C374-48C2-87EB-45A35263DF2B}"/>
              </a:ext>
            </a:extLst>
          </p:cNvPr>
          <p:cNvSpPr>
            <a:spLocks noGrp="1"/>
          </p:cNvSpPr>
          <p:nvPr>
            <p:ph type="sldNum" sz="quarter" idx="12"/>
          </p:nvPr>
        </p:nvSpPr>
        <p:spPr/>
        <p:txBody>
          <a:bodyPr/>
          <a:lstStyle/>
          <a:p>
            <a:fld id="{6D5FF878-6FC5-4835-8BE2-98BD7FC7510B}" type="slidenum">
              <a:rPr lang="en-IN" smtClean="0"/>
              <a:t>‹#›</a:t>
            </a:fld>
            <a:endParaRPr lang="en-IN"/>
          </a:p>
        </p:txBody>
      </p:sp>
    </p:spTree>
    <p:extLst>
      <p:ext uri="{BB962C8B-B14F-4D97-AF65-F5344CB8AC3E}">
        <p14:creationId xmlns:p14="http://schemas.microsoft.com/office/powerpoint/2010/main" val="4552916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4003D81-2CED-4C1F-8FDE-AA19F52F4DF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3A620A2-EC11-49E6-90C2-F84F04230D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92D490-4E61-40DB-A58B-23C533E5D9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316AC95-69DC-4D2C-BA95-EDBD267FC3F2}" type="datetimeFigureOut">
              <a:rPr lang="en-IN" smtClean="0"/>
              <a:t>12-03-2021</a:t>
            </a:fld>
            <a:endParaRPr lang="en-IN"/>
          </a:p>
        </p:txBody>
      </p:sp>
      <p:sp>
        <p:nvSpPr>
          <p:cNvPr id="5" name="Footer Placeholder 4">
            <a:extLst>
              <a:ext uri="{FF2B5EF4-FFF2-40B4-BE49-F238E27FC236}">
                <a16:creationId xmlns:a16="http://schemas.microsoft.com/office/drawing/2014/main" id="{0344447F-157C-49D7-9A9F-BA466CD4BBE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90447C3-C6EE-4EE0-B02C-C1F06A112D5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5FF878-6FC5-4835-8BE2-98BD7FC7510B}" type="slidenum">
              <a:rPr lang="en-IN" smtClean="0"/>
              <a:t>‹#›</a:t>
            </a:fld>
            <a:endParaRPr lang="en-IN"/>
          </a:p>
        </p:txBody>
      </p:sp>
    </p:spTree>
    <p:extLst>
      <p:ext uri="{BB962C8B-B14F-4D97-AF65-F5344CB8AC3E}">
        <p14:creationId xmlns:p14="http://schemas.microsoft.com/office/powerpoint/2010/main" val="32828904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C8DD67-A041-4B8E-AD6C-F779CEDB00FA}"/>
              </a:ext>
            </a:extLst>
          </p:cNvPr>
          <p:cNvSpPr>
            <a:spLocks noGrp="1"/>
          </p:cNvSpPr>
          <p:nvPr>
            <p:ph type="ctrTitle"/>
          </p:nvPr>
        </p:nvSpPr>
        <p:spPr>
          <a:xfrm>
            <a:off x="360485" y="404445"/>
            <a:ext cx="11641016" cy="3024555"/>
          </a:xfrm>
        </p:spPr>
        <p:txBody>
          <a:bodyPr>
            <a:normAutofit/>
          </a:bodyPr>
          <a:lstStyle/>
          <a:p>
            <a:r>
              <a:rPr lang="en-US" b="1" dirty="0"/>
              <a:t>GSoC -2021</a:t>
            </a:r>
            <a:br>
              <a:rPr lang="en-US" b="1" dirty="0"/>
            </a:br>
            <a:br>
              <a:rPr lang="en-US" b="1" dirty="0"/>
            </a:br>
            <a:r>
              <a:rPr lang="en-US" sz="4000" dirty="0"/>
              <a:t>Project – “Deep autoencoders for ATLAS data compression”</a:t>
            </a:r>
            <a:endParaRPr lang="en-IN" dirty="0"/>
          </a:p>
        </p:txBody>
      </p:sp>
      <p:sp>
        <p:nvSpPr>
          <p:cNvPr id="3" name="Subtitle 2">
            <a:extLst>
              <a:ext uri="{FF2B5EF4-FFF2-40B4-BE49-F238E27FC236}">
                <a16:creationId xmlns:a16="http://schemas.microsoft.com/office/drawing/2014/main" id="{4F75EDE1-43CF-489F-A942-EBC23FEC0205}"/>
              </a:ext>
            </a:extLst>
          </p:cNvPr>
          <p:cNvSpPr>
            <a:spLocks noGrp="1"/>
          </p:cNvSpPr>
          <p:nvPr>
            <p:ph type="subTitle" idx="1"/>
          </p:nvPr>
        </p:nvSpPr>
        <p:spPr>
          <a:xfrm>
            <a:off x="1055077" y="3602038"/>
            <a:ext cx="10647485" cy="3024554"/>
          </a:xfrm>
        </p:spPr>
        <p:txBody>
          <a:bodyPr>
            <a:normAutofit/>
          </a:bodyPr>
          <a:lstStyle/>
          <a:p>
            <a:endParaRPr lang="en-US" dirty="0"/>
          </a:p>
          <a:p>
            <a:endParaRPr lang="en-US" dirty="0"/>
          </a:p>
          <a:p>
            <a:endParaRPr lang="en-US" dirty="0"/>
          </a:p>
          <a:p>
            <a:endParaRPr lang="en-US" dirty="0"/>
          </a:p>
          <a:p>
            <a:endParaRPr lang="en-US" dirty="0"/>
          </a:p>
          <a:p>
            <a:r>
              <a:rPr lang="en-US" dirty="0"/>
              <a:t>                                                                                                                           - Vidit Ostwal</a:t>
            </a:r>
            <a:endParaRPr lang="en-IN" dirty="0"/>
          </a:p>
        </p:txBody>
      </p:sp>
    </p:spTree>
    <p:extLst>
      <p:ext uri="{BB962C8B-B14F-4D97-AF65-F5344CB8AC3E}">
        <p14:creationId xmlns:p14="http://schemas.microsoft.com/office/powerpoint/2010/main" val="11354436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52EB43C-0C25-4BE0-AB35-89C77E1A80C9}"/>
              </a:ext>
            </a:extLst>
          </p:cNvPr>
          <p:cNvSpPr txBox="1"/>
          <p:nvPr/>
        </p:nvSpPr>
        <p:spPr>
          <a:xfrm>
            <a:off x="281354" y="211015"/>
            <a:ext cx="11702561" cy="6986528"/>
          </a:xfrm>
          <a:prstGeom prst="rect">
            <a:avLst/>
          </a:prstGeom>
          <a:noFill/>
        </p:spPr>
        <p:txBody>
          <a:bodyPr wrap="square" rtlCol="0">
            <a:spAutoFit/>
          </a:bodyPr>
          <a:lstStyle/>
          <a:p>
            <a:r>
              <a:rPr lang="en-US" sz="2800" dirty="0"/>
              <a:t>INTRODUCTION :</a:t>
            </a:r>
            <a:r>
              <a:rPr lang="en-US" dirty="0"/>
              <a:t> </a:t>
            </a:r>
          </a:p>
          <a:p>
            <a:endParaRPr lang="en-US" dirty="0"/>
          </a:p>
          <a:p>
            <a:r>
              <a:rPr lang="en-US" sz="2400" dirty="0"/>
              <a:t>In this task, we were asked to run some raw data, with an already made autoencoder. The task was just to manipulate the data, and not to make a new network for autoencoder.</a:t>
            </a:r>
          </a:p>
          <a:p>
            <a:r>
              <a:rPr lang="en-US" sz="2400" dirty="0"/>
              <a:t>Data manipulation or data handling includes doing data slicing, normalizing the data, standardizing the data, removing the outliner (abnormal data). </a:t>
            </a:r>
          </a:p>
          <a:p>
            <a:r>
              <a:rPr lang="en-US" sz="2400" dirty="0"/>
              <a:t>Data manipulation or data handling is important for smooth model processing, uneven data leads either to a very steep gradient descent or very sloppy gradient descent, both which leads to decrease in efficiency of a model.</a:t>
            </a:r>
          </a:p>
          <a:p>
            <a:endParaRPr lang="en-US" sz="2400" dirty="0"/>
          </a:p>
          <a:p>
            <a:r>
              <a:rPr lang="en-US" sz="2400" dirty="0"/>
              <a:t>Various problems which were addressed through data handling:</a:t>
            </a:r>
          </a:p>
          <a:p>
            <a:pPr marL="342900" indent="-342900">
              <a:buFont typeface="Wingdings" panose="05000000000000000000" pitchFamily="2" charset="2"/>
              <a:buChar char="§"/>
            </a:pPr>
            <a:r>
              <a:rPr lang="en-US" sz="2400" dirty="0"/>
              <a:t> Each event (a single row)contains a different number of particle information (columns) </a:t>
            </a:r>
          </a:p>
          <a:p>
            <a:r>
              <a:rPr lang="en-US" sz="2400" dirty="0"/>
              <a:t>, a uniform number of columns are required to read the data in first place , a </a:t>
            </a:r>
            <a:r>
              <a:rPr lang="en-US" sz="2400" b="1" dirty="0"/>
              <a:t>while function() </a:t>
            </a:r>
            <a:r>
              <a:rPr lang="en-US" sz="2400" dirty="0"/>
              <a:t>was</a:t>
            </a:r>
            <a:r>
              <a:rPr lang="en-US" sz="2400" b="1" dirty="0"/>
              <a:t> </a:t>
            </a:r>
            <a:r>
              <a:rPr lang="en-US" sz="2400" dirty="0"/>
              <a:t>made to address the problem.</a:t>
            </a:r>
          </a:p>
          <a:p>
            <a:pPr marL="342900" indent="-342900">
              <a:buFont typeface="Wingdings" panose="05000000000000000000" pitchFamily="2" charset="2"/>
              <a:buChar char="§"/>
            </a:pPr>
            <a:r>
              <a:rPr lang="en-US" sz="2400" dirty="0"/>
              <a:t> The data given has a major problem, the last particle ‘phi’ detail is separated with next particle ‘type’ detail is separated with just a ‘;’, but both the information are combined together and put into a single cell, </a:t>
            </a:r>
            <a:r>
              <a:rPr lang="en-US" sz="2400" b="1" dirty="0"/>
              <a:t>two delimiter </a:t>
            </a:r>
            <a:r>
              <a:rPr lang="en-US" sz="2400" dirty="0"/>
              <a:t>were used while reading the data.</a:t>
            </a:r>
            <a:endParaRPr lang="en-US" sz="2400" b="1" dirty="0"/>
          </a:p>
          <a:p>
            <a:endParaRPr lang="en-US" sz="2400" b="1" dirty="0"/>
          </a:p>
          <a:p>
            <a:endParaRPr lang="en-IN" dirty="0"/>
          </a:p>
        </p:txBody>
      </p:sp>
    </p:spTree>
    <p:extLst>
      <p:ext uri="{BB962C8B-B14F-4D97-AF65-F5344CB8AC3E}">
        <p14:creationId xmlns:p14="http://schemas.microsoft.com/office/powerpoint/2010/main" val="24719283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2EE95471-941D-4573-A937-F8BDF81E0966}"/>
              </a:ext>
            </a:extLst>
          </p:cNvPr>
          <p:cNvSpPr txBox="1"/>
          <p:nvPr/>
        </p:nvSpPr>
        <p:spPr>
          <a:xfrm>
            <a:off x="96715" y="140677"/>
            <a:ext cx="11852031" cy="6001643"/>
          </a:xfrm>
          <a:prstGeom prst="rect">
            <a:avLst/>
          </a:prstGeom>
          <a:noFill/>
        </p:spPr>
        <p:txBody>
          <a:bodyPr wrap="square" rtlCol="0">
            <a:spAutoFit/>
          </a:bodyPr>
          <a:lstStyle/>
          <a:p>
            <a:pPr marL="285750" indent="-285750">
              <a:buFont typeface="Wingdings" panose="05000000000000000000" pitchFamily="2" charset="2"/>
              <a:buChar char="§"/>
            </a:pPr>
            <a:endParaRPr lang="en-US" sz="2400" dirty="0"/>
          </a:p>
          <a:p>
            <a:pPr marL="285750" indent="-285750">
              <a:buFont typeface="Wingdings" panose="05000000000000000000" pitchFamily="2" charset="2"/>
              <a:buChar char="§"/>
            </a:pPr>
            <a:r>
              <a:rPr lang="en-US" sz="2400" dirty="0"/>
              <a:t>Another major problem is that each event has more than one particle information, all these information need to be sliced and stacked row by row, </a:t>
            </a:r>
            <a:r>
              <a:rPr lang="en-US" sz="2400" b="1" dirty="0"/>
              <a:t>data was sliced</a:t>
            </a:r>
            <a:r>
              <a:rPr lang="en-US" sz="2400" dirty="0"/>
              <a:t> column by column to accomplish this task.</a:t>
            </a:r>
          </a:p>
          <a:p>
            <a:pPr marL="285750" indent="-285750">
              <a:buFont typeface="Wingdings" panose="05000000000000000000" pitchFamily="2" charset="2"/>
              <a:buChar char="§"/>
            </a:pPr>
            <a:r>
              <a:rPr lang="en-IN" sz="2400" dirty="0"/>
              <a:t>We have variety of object type in our data, data was again sliced row to row to slice the data with particle of </a:t>
            </a:r>
            <a:r>
              <a:rPr lang="en-IN" sz="2400" b="1" dirty="0"/>
              <a:t>‘j’</a:t>
            </a:r>
            <a:r>
              <a:rPr lang="en-IN" sz="2400" dirty="0"/>
              <a:t> (jet) type.</a:t>
            </a:r>
          </a:p>
          <a:p>
            <a:pPr marL="285750" indent="-285750">
              <a:buFont typeface="Wingdings" panose="05000000000000000000" pitchFamily="2" charset="2"/>
              <a:buChar char="§"/>
            </a:pPr>
            <a:r>
              <a:rPr lang="en-IN" sz="2400" dirty="0"/>
              <a:t>Only one dataset is given, that’s why the dataset was broken into train data and test data, in a 80:20 ratio with help of </a:t>
            </a:r>
            <a:r>
              <a:rPr lang="en-IN" sz="2400" b="1" dirty="0"/>
              <a:t>train_test_split().</a:t>
            </a:r>
            <a:endParaRPr lang="en-IN" sz="2400" dirty="0"/>
          </a:p>
          <a:p>
            <a:pPr marL="285750" indent="-285750">
              <a:buFont typeface="Wingdings" panose="05000000000000000000" pitchFamily="2" charset="2"/>
              <a:buChar char="§"/>
            </a:pPr>
            <a:r>
              <a:rPr lang="en-IN" sz="2400" dirty="0"/>
              <a:t>Data given needs to be scaled or normalized for smooth gradient descent, data was pre-processed with </a:t>
            </a:r>
            <a:r>
              <a:rPr lang="en-IN" sz="2400" b="1" dirty="0"/>
              <a:t>MinMaxScaler(), </a:t>
            </a:r>
            <a:r>
              <a:rPr lang="en-IN" sz="2400" dirty="0"/>
              <a:t>( x – x</a:t>
            </a:r>
            <a:r>
              <a:rPr lang="en-IN" sz="900" dirty="0"/>
              <a:t>min </a:t>
            </a:r>
            <a:r>
              <a:rPr lang="en-IN" sz="2400" dirty="0"/>
              <a:t> )/(x</a:t>
            </a:r>
            <a:r>
              <a:rPr lang="en-IN" sz="900" dirty="0"/>
              <a:t>max</a:t>
            </a:r>
            <a:r>
              <a:rPr lang="en-IN" sz="2400" dirty="0"/>
              <a:t> –x</a:t>
            </a:r>
            <a:r>
              <a:rPr lang="en-IN" sz="900" dirty="0"/>
              <a:t>min </a:t>
            </a:r>
            <a:r>
              <a:rPr lang="en-IN" sz="2400" dirty="0"/>
              <a:t>)</a:t>
            </a:r>
            <a:r>
              <a:rPr lang="en-IN" sz="2400" b="1" dirty="0"/>
              <a:t> </a:t>
            </a:r>
            <a:r>
              <a:rPr lang="en-IN" sz="2400" dirty="0"/>
              <a:t>, all the values will range in between (0-1) before feeding to the model.</a:t>
            </a:r>
          </a:p>
          <a:p>
            <a:pPr marL="285750" indent="-285750">
              <a:buFont typeface="Wingdings" panose="05000000000000000000" pitchFamily="2" charset="2"/>
              <a:buChar char="§"/>
            </a:pPr>
            <a:r>
              <a:rPr lang="en-IN" sz="2400" dirty="0"/>
              <a:t>The standardizing of data was done separately to train data and test data after splitting the dataset, to avoid any type of </a:t>
            </a:r>
            <a:r>
              <a:rPr lang="en-IN" sz="2400" b="1" dirty="0"/>
              <a:t>biasness</a:t>
            </a:r>
            <a:r>
              <a:rPr lang="en-IN" sz="2400" dirty="0"/>
              <a:t> that one dataset can have on the other dataset.</a:t>
            </a:r>
          </a:p>
          <a:p>
            <a:endParaRPr lang="en-IN" sz="2400" dirty="0"/>
          </a:p>
          <a:p>
            <a:r>
              <a:rPr lang="en-IN" sz="2400" dirty="0"/>
              <a:t>   The following table tells about the quality (mean, minimum, maximum, 25%, 50%, 75% of</a:t>
            </a:r>
          </a:p>
          <a:p>
            <a:r>
              <a:rPr lang="en-IN" sz="2400" dirty="0"/>
              <a:t>   train data we are given: </a:t>
            </a:r>
          </a:p>
        </p:txBody>
      </p:sp>
    </p:spTree>
    <p:extLst>
      <p:ext uri="{BB962C8B-B14F-4D97-AF65-F5344CB8AC3E}">
        <p14:creationId xmlns:p14="http://schemas.microsoft.com/office/powerpoint/2010/main" val="7871748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4">
            <a:extLst>
              <a:ext uri="{FF2B5EF4-FFF2-40B4-BE49-F238E27FC236}">
                <a16:creationId xmlns:a16="http://schemas.microsoft.com/office/drawing/2014/main" id="{A7D27FA2-D304-4209-8BEE-CE137E5F1C42}"/>
              </a:ext>
            </a:extLst>
          </p:cNvPr>
          <p:cNvGraphicFramePr>
            <a:graphicFrameLocks noGrp="1"/>
          </p:cNvGraphicFramePr>
          <p:nvPr>
            <p:extLst>
              <p:ext uri="{D42A27DB-BD31-4B8C-83A1-F6EECF244321}">
                <p14:modId xmlns:p14="http://schemas.microsoft.com/office/powerpoint/2010/main" val="586800281"/>
              </p:ext>
            </p:extLst>
          </p:nvPr>
        </p:nvGraphicFramePr>
        <p:xfrm>
          <a:off x="140677" y="140677"/>
          <a:ext cx="8076220" cy="2966720"/>
        </p:xfrm>
        <a:graphic>
          <a:graphicData uri="http://schemas.openxmlformats.org/drawingml/2006/table">
            <a:tbl>
              <a:tblPr firstRow="1" bandRow="1">
                <a:tableStyleId>{5C22544A-7EE6-4342-B048-85BDC9FD1C3A}</a:tableStyleId>
              </a:tblPr>
              <a:tblGrid>
                <a:gridCol w="1617784">
                  <a:extLst>
                    <a:ext uri="{9D8B030D-6E8A-4147-A177-3AD203B41FA5}">
                      <a16:colId xmlns:a16="http://schemas.microsoft.com/office/drawing/2014/main" val="900295468"/>
                    </a:ext>
                  </a:extLst>
                </a:gridCol>
                <a:gridCol w="1612704">
                  <a:extLst>
                    <a:ext uri="{9D8B030D-6E8A-4147-A177-3AD203B41FA5}">
                      <a16:colId xmlns:a16="http://schemas.microsoft.com/office/drawing/2014/main" val="3779368237"/>
                    </a:ext>
                  </a:extLst>
                </a:gridCol>
                <a:gridCol w="1615244">
                  <a:extLst>
                    <a:ext uri="{9D8B030D-6E8A-4147-A177-3AD203B41FA5}">
                      <a16:colId xmlns:a16="http://schemas.microsoft.com/office/drawing/2014/main" val="1569843313"/>
                    </a:ext>
                  </a:extLst>
                </a:gridCol>
                <a:gridCol w="1615244">
                  <a:extLst>
                    <a:ext uri="{9D8B030D-6E8A-4147-A177-3AD203B41FA5}">
                      <a16:colId xmlns:a16="http://schemas.microsoft.com/office/drawing/2014/main" val="2711604596"/>
                    </a:ext>
                  </a:extLst>
                </a:gridCol>
                <a:gridCol w="1615244">
                  <a:extLst>
                    <a:ext uri="{9D8B030D-6E8A-4147-A177-3AD203B41FA5}">
                      <a16:colId xmlns:a16="http://schemas.microsoft.com/office/drawing/2014/main" val="1121057106"/>
                    </a:ext>
                  </a:extLst>
                </a:gridCol>
              </a:tblGrid>
              <a:tr h="370840">
                <a:tc>
                  <a:txBody>
                    <a:bodyPr/>
                    <a:lstStyle/>
                    <a:p>
                      <a:pPr algn="r"/>
                      <a:endParaRPr lang="en-IN" b="1" dirty="0">
                        <a:effectLst/>
                      </a:endParaRPr>
                    </a:p>
                  </a:txBody>
                  <a:tcPr anchor="ctr"/>
                </a:tc>
                <a:tc>
                  <a:txBody>
                    <a:bodyPr/>
                    <a:lstStyle/>
                    <a:p>
                      <a:pPr algn="r"/>
                      <a:r>
                        <a:rPr lang="en-US" b="1" dirty="0">
                          <a:effectLst/>
                        </a:rPr>
                        <a:t>p</a:t>
                      </a:r>
                      <a:r>
                        <a:rPr lang="en-IN" b="1" dirty="0">
                          <a:effectLst/>
                        </a:rPr>
                        <a:t>t</a:t>
                      </a:r>
                    </a:p>
                  </a:txBody>
                  <a:tcPr anchor="ctr"/>
                </a:tc>
                <a:tc>
                  <a:txBody>
                    <a:bodyPr/>
                    <a:lstStyle/>
                    <a:p>
                      <a:pPr algn="r"/>
                      <a:r>
                        <a:rPr lang="en-US" b="1" dirty="0">
                          <a:effectLst/>
                        </a:rPr>
                        <a:t>E</a:t>
                      </a:r>
                      <a:r>
                        <a:rPr lang="en-IN" b="1" dirty="0">
                          <a:effectLst/>
                        </a:rPr>
                        <a:t>ta</a:t>
                      </a:r>
                    </a:p>
                  </a:txBody>
                  <a:tcPr anchor="ctr"/>
                </a:tc>
                <a:tc>
                  <a:txBody>
                    <a:bodyPr/>
                    <a:lstStyle/>
                    <a:p>
                      <a:pPr algn="r"/>
                      <a:r>
                        <a:rPr lang="en-US" b="1" dirty="0">
                          <a:effectLst/>
                        </a:rPr>
                        <a:t>P</a:t>
                      </a:r>
                      <a:r>
                        <a:rPr lang="en-IN" b="1" dirty="0">
                          <a:effectLst/>
                        </a:rPr>
                        <a:t>hi</a:t>
                      </a:r>
                    </a:p>
                  </a:txBody>
                  <a:tcPr anchor="ctr"/>
                </a:tc>
                <a:tc>
                  <a:txBody>
                    <a:bodyPr/>
                    <a:lstStyle/>
                    <a:p>
                      <a:r>
                        <a:rPr lang="en-US" dirty="0"/>
                        <a:t>                      m</a:t>
                      </a:r>
                      <a:endParaRPr lang="en-IN" dirty="0"/>
                    </a:p>
                  </a:txBody>
                  <a:tcPr/>
                </a:tc>
                <a:extLst>
                  <a:ext uri="{0D108BD9-81ED-4DB2-BD59-A6C34878D82A}">
                    <a16:rowId xmlns:a16="http://schemas.microsoft.com/office/drawing/2014/main" val="1477964920"/>
                  </a:ext>
                </a:extLst>
              </a:tr>
              <a:tr h="370840">
                <a:tc>
                  <a:txBody>
                    <a:bodyPr/>
                    <a:lstStyle/>
                    <a:p>
                      <a:pPr fontAlgn="ctr"/>
                      <a:r>
                        <a:rPr lang="en-IN" b="1" dirty="0">
                          <a:effectLst/>
                        </a:rPr>
                        <a:t>count</a:t>
                      </a:r>
                    </a:p>
                  </a:txBody>
                  <a:tcPr anchor="ctr"/>
                </a:tc>
                <a:tc>
                  <a:txBody>
                    <a:bodyPr/>
                    <a:lstStyle/>
                    <a:p>
                      <a:pPr algn="r"/>
                      <a:r>
                        <a:rPr lang="en-IN">
                          <a:effectLst/>
                        </a:rPr>
                        <a:t>18128.000000</a:t>
                      </a:r>
                    </a:p>
                  </a:txBody>
                  <a:tcPr anchor="ctr"/>
                </a:tc>
                <a:tc>
                  <a:txBody>
                    <a:bodyPr/>
                    <a:lstStyle/>
                    <a:p>
                      <a:pPr algn="r"/>
                      <a:r>
                        <a:rPr lang="en-IN" dirty="0">
                          <a:effectLst/>
                        </a:rPr>
                        <a:t>18128.000000</a:t>
                      </a:r>
                    </a:p>
                  </a:txBody>
                  <a:tcPr anchor="ctr"/>
                </a:tc>
                <a:tc>
                  <a:txBody>
                    <a:bodyPr/>
                    <a:lstStyle/>
                    <a:p>
                      <a:pPr algn="r"/>
                      <a:r>
                        <a:rPr lang="en-IN">
                          <a:effectLst/>
                        </a:rPr>
                        <a:t>18128.000000</a:t>
                      </a:r>
                    </a:p>
                  </a:txBody>
                  <a:tcPr anchor="ctr"/>
                </a:tc>
                <a:tc>
                  <a:txBody>
                    <a:bodyPr/>
                    <a:lstStyle/>
                    <a:p>
                      <a:pPr algn="r"/>
                      <a:r>
                        <a:rPr lang="en-IN">
                          <a:effectLst/>
                        </a:rPr>
                        <a:t>18128.000000</a:t>
                      </a:r>
                    </a:p>
                  </a:txBody>
                  <a:tcPr anchor="ctr"/>
                </a:tc>
                <a:extLst>
                  <a:ext uri="{0D108BD9-81ED-4DB2-BD59-A6C34878D82A}">
                    <a16:rowId xmlns:a16="http://schemas.microsoft.com/office/drawing/2014/main" val="3241780923"/>
                  </a:ext>
                </a:extLst>
              </a:tr>
              <a:tr h="370840">
                <a:tc>
                  <a:txBody>
                    <a:bodyPr/>
                    <a:lstStyle/>
                    <a:p>
                      <a:pPr fontAlgn="ctr"/>
                      <a:r>
                        <a:rPr lang="en-IN" b="1">
                          <a:effectLst/>
                        </a:rPr>
                        <a:t>mean</a:t>
                      </a:r>
                    </a:p>
                  </a:txBody>
                  <a:tcPr anchor="ctr"/>
                </a:tc>
                <a:tc>
                  <a:txBody>
                    <a:bodyPr/>
                    <a:lstStyle/>
                    <a:p>
                      <a:pPr algn="r"/>
                      <a:r>
                        <a:rPr lang="en-IN">
                          <a:effectLst/>
                        </a:rPr>
                        <a:t>0.106679</a:t>
                      </a:r>
                    </a:p>
                  </a:txBody>
                  <a:tcPr anchor="ctr"/>
                </a:tc>
                <a:tc>
                  <a:txBody>
                    <a:bodyPr/>
                    <a:lstStyle/>
                    <a:p>
                      <a:pPr algn="r"/>
                      <a:r>
                        <a:rPr lang="en-IN" dirty="0">
                          <a:effectLst/>
                        </a:rPr>
                        <a:t>0.504778</a:t>
                      </a:r>
                    </a:p>
                  </a:txBody>
                  <a:tcPr anchor="ctr"/>
                </a:tc>
                <a:tc>
                  <a:txBody>
                    <a:bodyPr/>
                    <a:lstStyle/>
                    <a:p>
                      <a:pPr algn="r"/>
                      <a:r>
                        <a:rPr lang="en-IN">
                          <a:effectLst/>
                        </a:rPr>
                        <a:t>0.498833</a:t>
                      </a:r>
                    </a:p>
                  </a:txBody>
                  <a:tcPr anchor="ctr"/>
                </a:tc>
                <a:tc>
                  <a:txBody>
                    <a:bodyPr/>
                    <a:lstStyle/>
                    <a:p>
                      <a:pPr algn="r"/>
                      <a:r>
                        <a:rPr lang="en-IN">
                          <a:effectLst/>
                        </a:rPr>
                        <a:t>0.094164</a:t>
                      </a:r>
                    </a:p>
                  </a:txBody>
                  <a:tcPr anchor="ctr"/>
                </a:tc>
                <a:extLst>
                  <a:ext uri="{0D108BD9-81ED-4DB2-BD59-A6C34878D82A}">
                    <a16:rowId xmlns:a16="http://schemas.microsoft.com/office/drawing/2014/main" val="3058849762"/>
                  </a:ext>
                </a:extLst>
              </a:tr>
              <a:tr h="370840">
                <a:tc>
                  <a:txBody>
                    <a:bodyPr/>
                    <a:lstStyle/>
                    <a:p>
                      <a:pPr fontAlgn="ctr"/>
                      <a:r>
                        <a:rPr lang="en-IN" b="1">
                          <a:effectLst/>
                        </a:rPr>
                        <a:t>std</a:t>
                      </a:r>
                    </a:p>
                  </a:txBody>
                  <a:tcPr anchor="ctr"/>
                </a:tc>
                <a:tc>
                  <a:txBody>
                    <a:bodyPr/>
                    <a:lstStyle/>
                    <a:p>
                      <a:pPr algn="r"/>
                      <a:r>
                        <a:rPr lang="en-IN">
                          <a:effectLst/>
                        </a:rPr>
                        <a:t>0.129300</a:t>
                      </a:r>
                    </a:p>
                  </a:txBody>
                  <a:tcPr anchor="ctr"/>
                </a:tc>
                <a:tc>
                  <a:txBody>
                    <a:bodyPr/>
                    <a:lstStyle/>
                    <a:p>
                      <a:pPr algn="r"/>
                      <a:r>
                        <a:rPr lang="en-IN" dirty="0">
                          <a:effectLst/>
                        </a:rPr>
                        <a:t>0.157493</a:t>
                      </a:r>
                    </a:p>
                  </a:txBody>
                  <a:tcPr anchor="ctr"/>
                </a:tc>
                <a:tc>
                  <a:txBody>
                    <a:bodyPr/>
                    <a:lstStyle/>
                    <a:p>
                      <a:pPr algn="r"/>
                      <a:r>
                        <a:rPr lang="en-IN">
                          <a:effectLst/>
                        </a:rPr>
                        <a:t>0.288255</a:t>
                      </a:r>
                    </a:p>
                  </a:txBody>
                  <a:tcPr anchor="ctr"/>
                </a:tc>
                <a:tc>
                  <a:txBody>
                    <a:bodyPr/>
                    <a:lstStyle/>
                    <a:p>
                      <a:pPr algn="r"/>
                      <a:r>
                        <a:rPr lang="en-IN">
                          <a:effectLst/>
                        </a:rPr>
                        <a:t>0.097248</a:t>
                      </a:r>
                    </a:p>
                  </a:txBody>
                  <a:tcPr anchor="ctr"/>
                </a:tc>
                <a:extLst>
                  <a:ext uri="{0D108BD9-81ED-4DB2-BD59-A6C34878D82A}">
                    <a16:rowId xmlns:a16="http://schemas.microsoft.com/office/drawing/2014/main" val="103191430"/>
                  </a:ext>
                </a:extLst>
              </a:tr>
              <a:tr h="370840">
                <a:tc>
                  <a:txBody>
                    <a:bodyPr/>
                    <a:lstStyle/>
                    <a:p>
                      <a:pPr fontAlgn="ctr"/>
                      <a:r>
                        <a:rPr lang="en-IN" b="1">
                          <a:effectLst/>
                        </a:rPr>
                        <a:t>min</a:t>
                      </a:r>
                    </a:p>
                  </a:txBody>
                  <a:tcPr anchor="ctr"/>
                </a:tc>
                <a:tc>
                  <a:txBody>
                    <a:bodyPr/>
                    <a:lstStyle/>
                    <a:p>
                      <a:pPr algn="r"/>
                      <a:r>
                        <a:rPr lang="en-IN">
                          <a:effectLst/>
                        </a:rPr>
                        <a:t>0.000000</a:t>
                      </a:r>
                    </a:p>
                  </a:txBody>
                  <a:tcPr anchor="ctr"/>
                </a:tc>
                <a:tc>
                  <a:txBody>
                    <a:bodyPr/>
                    <a:lstStyle/>
                    <a:p>
                      <a:pPr algn="r"/>
                      <a:r>
                        <a:rPr lang="en-IN" dirty="0">
                          <a:effectLst/>
                        </a:rPr>
                        <a:t>0.000000</a:t>
                      </a:r>
                    </a:p>
                  </a:txBody>
                  <a:tcPr anchor="ctr"/>
                </a:tc>
                <a:tc>
                  <a:txBody>
                    <a:bodyPr/>
                    <a:lstStyle/>
                    <a:p>
                      <a:pPr algn="r"/>
                      <a:r>
                        <a:rPr lang="en-IN">
                          <a:effectLst/>
                        </a:rPr>
                        <a:t>0.000000</a:t>
                      </a:r>
                    </a:p>
                  </a:txBody>
                  <a:tcPr anchor="ctr"/>
                </a:tc>
                <a:tc>
                  <a:txBody>
                    <a:bodyPr/>
                    <a:lstStyle/>
                    <a:p>
                      <a:pPr algn="r"/>
                      <a:r>
                        <a:rPr lang="en-IN">
                          <a:effectLst/>
                        </a:rPr>
                        <a:t>0.000000</a:t>
                      </a:r>
                    </a:p>
                  </a:txBody>
                  <a:tcPr anchor="ctr"/>
                </a:tc>
                <a:extLst>
                  <a:ext uri="{0D108BD9-81ED-4DB2-BD59-A6C34878D82A}">
                    <a16:rowId xmlns:a16="http://schemas.microsoft.com/office/drawing/2014/main" val="1796158436"/>
                  </a:ext>
                </a:extLst>
              </a:tr>
              <a:tr h="370840">
                <a:tc>
                  <a:txBody>
                    <a:bodyPr/>
                    <a:lstStyle/>
                    <a:p>
                      <a:pPr fontAlgn="ctr"/>
                      <a:r>
                        <a:rPr lang="en-IN" b="1">
                          <a:effectLst/>
                        </a:rPr>
                        <a:t>25%</a:t>
                      </a:r>
                    </a:p>
                  </a:txBody>
                  <a:tcPr anchor="ctr"/>
                </a:tc>
                <a:tc>
                  <a:txBody>
                    <a:bodyPr/>
                    <a:lstStyle/>
                    <a:p>
                      <a:pPr algn="r"/>
                      <a:r>
                        <a:rPr lang="en-IN" dirty="0">
                          <a:effectLst/>
                        </a:rPr>
                        <a:t>0.012366</a:t>
                      </a:r>
                    </a:p>
                  </a:txBody>
                  <a:tcPr anchor="ctr"/>
                </a:tc>
                <a:tc>
                  <a:txBody>
                    <a:bodyPr/>
                    <a:lstStyle/>
                    <a:p>
                      <a:pPr algn="r"/>
                      <a:r>
                        <a:rPr lang="en-IN" dirty="0">
                          <a:effectLst/>
                        </a:rPr>
                        <a:t>0.403185</a:t>
                      </a:r>
                    </a:p>
                  </a:txBody>
                  <a:tcPr anchor="ctr"/>
                </a:tc>
                <a:tc>
                  <a:txBody>
                    <a:bodyPr/>
                    <a:lstStyle/>
                    <a:p>
                      <a:pPr algn="r"/>
                      <a:r>
                        <a:rPr lang="en-IN" dirty="0">
                          <a:effectLst/>
                        </a:rPr>
                        <a:t>0.248296</a:t>
                      </a:r>
                    </a:p>
                  </a:txBody>
                  <a:tcPr anchor="ctr"/>
                </a:tc>
                <a:tc>
                  <a:txBody>
                    <a:bodyPr/>
                    <a:lstStyle/>
                    <a:p>
                      <a:pPr algn="r"/>
                      <a:r>
                        <a:rPr lang="en-IN">
                          <a:effectLst/>
                        </a:rPr>
                        <a:t>0.021583</a:t>
                      </a:r>
                    </a:p>
                  </a:txBody>
                  <a:tcPr anchor="ctr"/>
                </a:tc>
                <a:extLst>
                  <a:ext uri="{0D108BD9-81ED-4DB2-BD59-A6C34878D82A}">
                    <a16:rowId xmlns:a16="http://schemas.microsoft.com/office/drawing/2014/main" val="3834809659"/>
                  </a:ext>
                </a:extLst>
              </a:tr>
              <a:tr h="370840">
                <a:tc>
                  <a:txBody>
                    <a:bodyPr/>
                    <a:lstStyle/>
                    <a:p>
                      <a:pPr fontAlgn="ctr"/>
                      <a:r>
                        <a:rPr lang="en-IN" b="1">
                          <a:effectLst/>
                        </a:rPr>
                        <a:t>50%</a:t>
                      </a:r>
                    </a:p>
                  </a:txBody>
                  <a:tcPr anchor="ctr"/>
                </a:tc>
                <a:tc>
                  <a:txBody>
                    <a:bodyPr/>
                    <a:lstStyle/>
                    <a:p>
                      <a:pPr algn="r"/>
                      <a:r>
                        <a:rPr lang="en-IN" dirty="0">
                          <a:effectLst/>
                        </a:rPr>
                        <a:t>0.049208</a:t>
                      </a:r>
                    </a:p>
                  </a:txBody>
                  <a:tcPr anchor="ctr"/>
                </a:tc>
                <a:tc>
                  <a:txBody>
                    <a:bodyPr/>
                    <a:lstStyle/>
                    <a:p>
                      <a:pPr algn="r"/>
                      <a:r>
                        <a:rPr lang="en-IN" dirty="0">
                          <a:effectLst/>
                        </a:rPr>
                        <a:t>0.505298</a:t>
                      </a:r>
                    </a:p>
                  </a:txBody>
                  <a:tcPr anchor="ctr"/>
                </a:tc>
                <a:tc>
                  <a:txBody>
                    <a:bodyPr/>
                    <a:lstStyle/>
                    <a:p>
                      <a:pPr algn="r"/>
                      <a:r>
                        <a:rPr lang="en-IN">
                          <a:effectLst/>
                        </a:rPr>
                        <a:t>0.500561</a:t>
                      </a:r>
                    </a:p>
                  </a:txBody>
                  <a:tcPr anchor="ctr"/>
                </a:tc>
                <a:tc>
                  <a:txBody>
                    <a:bodyPr/>
                    <a:lstStyle/>
                    <a:p>
                      <a:pPr algn="r"/>
                      <a:r>
                        <a:rPr lang="en-IN">
                          <a:effectLst/>
                        </a:rPr>
                        <a:t>0.061598</a:t>
                      </a:r>
                    </a:p>
                  </a:txBody>
                  <a:tcPr anchor="ctr"/>
                </a:tc>
                <a:extLst>
                  <a:ext uri="{0D108BD9-81ED-4DB2-BD59-A6C34878D82A}">
                    <a16:rowId xmlns:a16="http://schemas.microsoft.com/office/drawing/2014/main" val="33152301"/>
                  </a:ext>
                </a:extLst>
              </a:tr>
              <a:tr h="370840">
                <a:tc>
                  <a:txBody>
                    <a:bodyPr/>
                    <a:lstStyle/>
                    <a:p>
                      <a:pPr fontAlgn="ctr"/>
                      <a:r>
                        <a:rPr lang="en-IN" b="1">
                          <a:effectLst/>
                        </a:rPr>
                        <a:t>75%</a:t>
                      </a:r>
                    </a:p>
                  </a:txBody>
                  <a:tcPr anchor="ctr"/>
                </a:tc>
                <a:tc>
                  <a:txBody>
                    <a:bodyPr/>
                    <a:lstStyle/>
                    <a:p>
                      <a:pPr algn="r"/>
                      <a:r>
                        <a:rPr lang="en-IN" dirty="0">
                          <a:effectLst/>
                        </a:rPr>
                        <a:t>0.166752</a:t>
                      </a:r>
                    </a:p>
                  </a:txBody>
                  <a:tcPr anchor="ctr"/>
                </a:tc>
                <a:tc>
                  <a:txBody>
                    <a:bodyPr/>
                    <a:lstStyle/>
                    <a:p>
                      <a:pPr algn="r"/>
                      <a:r>
                        <a:rPr lang="en-IN" dirty="0">
                          <a:effectLst/>
                        </a:rPr>
                        <a:t>0.607624</a:t>
                      </a:r>
                    </a:p>
                  </a:txBody>
                  <a:tcPr anchor="ctr"/>
                </a:tc>
                <a:tc>
                  <a:txBody>
                    <a:bodyPr/>
                    <a:lstStyle/>
                    <a:p>
                      <a:pPr algn="r"/>
                      <a:r>
                        <a:rPr lang="en-IN">
                          <a:effectLst/>
                        </a:rPr>
                        <a:t>0.746794</a:t>
                      </a:r>
                    </a:p>
                  </a:txBody>
                  <a:tcPr anchor="ctr"/>
                </a:tc>
                <a:tc>
                  <a:txBody>
                    <a:bodyPr/>
                    <a:lstStyle/>
                    <a:p>
                      <a:pPr algn="r"/>
                      <a:r>
                        <a:rPr lang="en-IN" dirty="0">
                          <a:effectLst/>
                        </a:rPr>
                        <a:t>0.137735</a:t>
                      </a:r>
                    </a:p>
                  </a:txBody>
                  <a:tcPr anchor="ctr"/>
                </a:tc>
                <a:extLst>
                  <a:ext uri="{0D108BD9-81ED-4DB2-BD59-A6C34878D82A}">
                    <a16:rowId xmlns:a16="http://schemas.microsoft.com/office/drawing/2014/main" val="673550418"/>
                  </a:ext>
                </a:extLst>
              </a:tr>
            </a:tbl>
          </a:graphicData>
        </a:graphic>
      </p:graphicFrame>
      <p:sp>
        <p:nvSpPr>
          <p:cNvPr id="5" name="TextBox 4">
            <a:extLst>
              <a:ext uri="{FF2B5EF4-FFF2-40B4-BE49-F238E27FC236}">
                <a16:creationId xmlns:a16="http://schemas.microsoft.com/office/drawing/2014/main" id="{268A6326-C669-4880-9C09-534666D762DC}"/>
              </a:ext>
            </a:extLst>
          </p:cNvPr>
          <p:cNvSpPr txBox="1"/>
          <p:nvPr/>
        </p:nvSpPr>
        <p:spPr>
          <a:xfrm>
            <a:off x="8554915" y="378069"/>
            <a:ext cx="3297116" cy="3416320"/>
          </a:xfrm>
          <a:prstGeom prst="rect">
            <a:avLst/>
          </a:prstGeom>
          <a:noFill/>
        </p:spPr>
        <p:txBody>
          <a:bodyPr wrap="square" rtlCol="0">
            <a:spAutoFit/>
          </a:bodyPr>
          <a:lstStyle/>
          <a:p>
            <a:r>
              <a:rPr lang="en-US" dirty="0"/>
              <a:t>Table 1:</a:t>
            </a:r>
          </a:p>
          <a:p>
            <a:pPr marL="285750" indent="-285750">
              <a:buFont typeface="Arial" panose="020B0604020202020204" pitchFamily="34" charset="0"/>
              <a:buChar char="•"/>
            </a:pPr>
            <a:r>
              <a:rPr lang="en-US" dirty="0"/>
              <a:t>The mean of </a:t>
            </a:r>
            <a:r>
              <a:rPr lang="en-US" b="1" dirty="0"/>
              <a:t>‘pt’ </a:t>
            </a:r>
            <a:r>
              <a:rPr lang="en-US" dirty="0"/>
              <a:t>momentum and </a:t>
            </a:r>
            <a:r>
              <a:rPr lang="en-US" b="1" dirty="0"/>
              <a:t>‘m’</a:t>
            </a:r>
            <a:r>
              <a:rPr lang="en-US" dirty="0"/>
              <a:t> momentum are very near to zero, thus both graph will have a lot of data values near the value of zero and will represent a </a:t>
            </a:r>
            <a:r>
              <a:rPr lang="en-US" b="1" dirty="0"/>
              <a:t>‘half mountain’ </a:t>
            </a:r>
          </a:p>
          <a:p>
            <a:pPr marL="285750" indent="-285750">
              <a:buFont typeface="Arial" panose="020B0604020202020204" pitchFamily="34" charset="0"/>
              <a:buChar char="•"/>
            </a:pPr>
            <a:r>
              <a:rPr lang="en-US" dirty="0"/>
              <a:t>The Standard deviation in </a:t>
            </a:r>
            <a:r>
              <a:rPr lang="en-US" b="1" dirty="0"/>
              <a:t>‘phi’ </a:t>
            </a:r>
            <a:r>
              <a:rPr lang="en-US" dirty="0"/>
              <a:t>is highest and thus the most scattered data will be of </a:t>
            </a:r>
            <a:r>
              <a:rPr lang="en-US" b="1" dirty="0"/>
              <a:t>‘phi’ </a:t>
            </a:r>
            <a:r>
              <a:rPr lang="en-US" dirty="0"/>
              <a:t>graph.</a:t>
            </a:r>
          </a:p>
          <a:p>
            <a:pPr marL="285750" indent="-285750">
              <a:buFont typeface="Arial" panose="020B0604020202020204" pitchFamily="34" charset="0"/>
              <a:buChar char="•"/>
            </a:pPr>
            <a:endParaRPr lang="en-IN" dirty="0"/>
          </a:p>
        </p:txBody>
      </p:sp>
      <p:pic>
        <p:nvPicPr>
          <p:cNvPr id="7" name="Picture 6">
            <a:extLst>
              <a:ext uri="{FF2B5EF4-FFF2-40B4-BE49-F238E27FC236}">
                <a16:creationId xmlns:a16="http://schemas.microsoft.com/office/drawing/2014/main" id="{5299E43E-B7A7-40A5-839E-0DAE794F5CC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145211" y="3429000"/>
            <a:ext cx="4706820" cy="3137880"/>
          </a:xfrm>
          <a:prstGeom prst="rect">
            <a:avLst/>
          </a:prstGeom>
        </p:spPr>
      </p:pic>
      <p:sp>
        <p:nvSpPr>
          <p:cNvPr id="8" name="TextBox 7">
            <a:extLst>
              <a:ext uri="{FF2B5EF4-FFF2-40B4-BE49-F238E27FC236}">
                <a16:creationId xmlns:a16="http://schemas.microsoft.com/office/drawing/2014/main" id="{5455DA4D-09DE-4987-B1B8-68D3D76266C0}"/>
              </a:ext>
            </a:extLst>
          </p:cNvPr>
          <p:cNvSpPr txBox="1"/>
          <p:nvPr/>
        </p:nvSpPr>
        <p:spPr>
          <a:xfrm>
            <a:off x="316523" y="3517390"/>
            <a:ext cx="6594231" cy="2585323"/>
          </a:xfrm>
          <a:prstGeom prst="rect">
            <a:avLst/>
          </a:prstGeom>
          <a:noFill/>
        </p:spPr>
        <p:txBody>
          <a:bodyPr wrap="square" rtlCol="0">
            <a:spAutoFit/>
          </a:bodyPr>
          <a:lstStyle/>
          <a:p>
            <a:pPr marL="0" algn="l" rtl="0" eaLnBrk="1" latinLnBrk="0" hangingPunct="1">
              <a:spcBef>
                <a:spcPts val="0"/>
              </a:spcBef>
              <a:spcAft>
                <a:spcPts val="0"/>
              </a:spcAft>
            </a:pPr>
            <a:r>
              <a:rPr lang="en-US" sz="1800" kern="1200" dirty="0">
                <a:solidFill>
                  <a:srgbClr val="000000"/>
                </a:solidFill>
                <a:effectLst/>
                <a:latin typeface="Calibri" panose="020F0502020204030204" pitchFamily="34" charset="0"/>
                <a:ea typeface="+mn-ea"/>
                <a:cs typeface="+mn-cs"/>
              </a:rPr>
              <a:t>Graph 1:</a:t>
            </a:r>
            <a:endParaRPr lang="en-IN" dirty="0">
              <a:effectLst/>
            </a:endParaRPr>
          </a:p>
          <a:p>
            <a:pPr marL="0" algn="l" rtl="0" eaLnBrk="1" latinLnBrk="0" hangingPunct="1">
              <a:spcBef>
                <a:spcPts val="0"/>
              </a:spcBef>
              <a:spcAft>
                <a:spcPts val="0"/>
              </a:spcAft>
            </a:pPr>
            <a:r>
              <a:rPr lang="en-US" sz="1800" kern="1200" dirty="0">
                <a:solidFill>
                  <a:srgbClr val="000000"/>
                </a:solidFill>
                <a:effectLst/>
                <a:latin typeface="Calibri" panose="020F0502020204030204" pitchFamily="34" charset="0"/>
                <a:ea typeface="+mn-ea"/>
                <a:cs typeface="+mn-cs"/>
              </a:rPr>
              <a:t>‘pt’ momentum  of all the particle information given.</a:t>
            </a:r>
            <a:endParaRPr lang="en-IN" dirty="0">
              <a:effectLst/>
            </a:endParaRPr>
          </a:p>
          <a:p>
            <a:pPr marL="0" algn="l" rtl="0" eaLnBrk="1" latinLnBrk="0" hangingPunct="1">
              <a:spcBef>
                <a:spcPts val="0"/>
              </a:spcBef>
              <a:spcAft>
                <a:spcPts val="0"/>
              </a:spcAft>
            </a:pPr>
            <a:r>
              <a:rPr lang="en-US" sz="1800" kern="1200" dirty="0">
                <a:solidFill>
                  <a:srgbClr val="000000"/>
                </a:solidFill>
                <a:effectLst/>
                <a:latin typeface="Calibri" panose="020F0502020204030204" pitchFamily="34" charset="0"/>
                <a:ea typeface="+mn-ea"/>
                <a:cs typeface="+mn-cs"/>
              </a:rPr>
              <a:t>The graph clearly shows the most of the particle’s ‘pt’ momentum is near zero, which means the difference between x and xmean for most of the data is very low, which means that number of data we have in between x</a:t>
            </a:r>
            <a:r>
              <a:rPr lang="en-US" sz="900" kern="1200" dirty="0">
                <a:solidFill>
                  <a:srgbClr val="000000"/>
                </a:solidFill>
                <a:effectLst/>
                <a:latin typeface="Calibri" panose="020F0502020204030204" pitchFamily="34" charset="0"/>
                <a:ea typeface="+mn-ea"/>
                <a:cs typeface="+mn-cs"/>
              </a:rPr>
              <a:t>min </a:t>
            </a:r>
            <a:r>
              <a:rPr lang="en-US" sz="1800" kern="1200" dirty="0">
                <a:solidFill>
                  <a:srgbClr val="000000"/>
                </a:solidFill>
                <a:effectLst/>
                <a:latin typeface="Calibri" panose="020F0502020204030204" pitchFamily="34" charset="0"/>
                <a:ea typeface="+mn-ea"/>
                <a:cs typeface="+mn-cs"/>
              </a:rPr>
              <a:t>and x</a:t>
            </a:r>
            <a:r>
              <a:rPr lang="en-US" sz="900" kern="1200" dirty="0">
                <a:solidFill>
                  <a:srgbClr val="000000"/>
                </a:solidFill>
                <a:effectLst/>
                <a:latin typeface="Calibri" panose="020F0502020204030204" pitchFamily="34" charset="0"/>
                <a:ea typeface="+mn-ea"/>
                <a:cs typeface="+mn-cs"/>
              </a:rPr>
              <a:t>mean</a:t>
            </a:r>
            <a:r>
              <a:rPr lang="en-US" sz="1800" kern="1200" dirty="0">
                <a:solidFill>
                  <a:srgbClr val="000000"/>
                </a:solidFill>
                <a:effectLst/>
                <a:latin typeface="Calibri" panose="020F0502020204030204" pitchFamily="34" charset="0"/>
                <a:ea typeface="+mn-ea"/>
                <a:cs typeface="+mn-cs"/>
              </a:rPr>
              <a:t>  is much higher than number of data values in-between x</a:t>
            </a:r>
            <a:r>
              <a:rPr lang="en-US" sz="900" kern="1200" dirty="0">
                <a:solidFill>
                  <a:srgbClr val="000000"/>
                </a:solidFill>
                <a:effectLst/>
                <a:latin typeface="Calibri" panose="020F0502020204030204" pitchFamily="34" charset="0"/>
                <a:ea typeface="+mn-ea"/>
                <a:cs typeface="+mn-cs"/>
              </a:rPr>
              <a:t>max</a:t>
            </a:r>
            <a:r>
              <a:rPr lang="en-US" sz="1800" kern="1200" dirty="0">
                <a:solidFill>
                  <a:srgbClr val="000000"/>
                </a:solidFill>
                <a:effectLst/>
                <a:latin typeface="Calibri" panose="020F0502020204030204" pitchFamily="34" charset="0"/>
                <a:ea typeface="+mn-ea"/>
                <a:cs typeface="+mn-cs"/>
              </a:rPr>
              <a:t> and x</a:t>
            </a:r>
            <a:r>
              <a:rPr lang="en-US" sz="900" kern="1200" dirty="0">
                <a:solidFill>
                  <a:srgbClr val="000000"/>
                </a:solidFill>
                <a:effectLst/>
                <a:latin typeface="Calibri" panose="020F0502020204030204" pitchFamily="34" charset="0"/>
                <a:ea typeface="+mn-ea"/>
                <a:cs typeface="+mn-cs"/>
              </a:rPr>
              <a:t>mean</a:t>
            </a:r>
            <a:r>
              <a:rPr lang="en-US" sz="1800" kern="1200" dirty="0">
                <a:solidFill>
                  <a:srgbClr val="000000"/>
                </a:solidFill>
                <a:effectLst/>
                <a:latin typeface="Calibri" panose="020F0502020204030204" pitchFamily="34" charset="0"/>
                <a:ea typeface="+mn-ea"/>
                <a:cs typeface="+mn-cs"/>
              </a:rPr>
              <a:t> This unevenness in the data makes the graph a </a:t>
            </a:r>
            <a:r>
              <a:rPr lang="en-US" sz="1800" b="1" kern="1200" dirty="0">
                <a:solidFill>
                  <a:srgbClr val="000000"/>
                </a:solidFill>
                <a:effectLst/>
                <a:latin typeface="Calibri" panose="020F0502020204030204" pitchFamily="34" charset="0"/>
                <a:ea typeface="+mn-ea"/>
                <a:cs typeface="+mn-cs"/>
              </a:rPr>
              <a:t>half mountain</a:t>
            </a:r>
            <a:r>
              <a:rPr lang="en-US" sz="1800" kern="1200" dirty="0">
                <a:solidFill>
                  <a:srgbClr val="000000"/>
                </a:solidFill>
                <a:effectLst/>
                <a:latin typeface="Calibri" panose="020F0502020204030204" pitchFamily="34" charset="0"/>
                <a:ea typeface="+mn-ea"/>
                <a:cs typeface="+mn-cs"/>
              </a:rPr>
              <a:t>.</a:t>
            </a:r>
            <a:endParaRPr lang="en-IN" dirty="0">
              <a:effectLst/>
            </a:endParaRPr>
          </a:p>
          <a:p>
            <a:endParaRPr lang="en-IN" dirty="0"/>
          </a:p>
        </p:txBody>
      </p:sp>
    </p:spTree>
    <p:extLst>
      <p:ext uri="{BB962C8B-B14F-4D97-AF65-F5344CB8AC3E}">
        <p14:creationId xmlns:p14="http://schemas.microsoft.com/office/powerpoint/2010/main" val="29519772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F4C44C-D6D6-4DD7-AF94-563334D7B5C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3886200" cy="2590800"/>
          </a:xfrm>
          <a:prstGeom prst="rect">
            <a:avLst/>
          </a:prstGeom>
        </p:spPr>
      </p:pic>
      <p:pic>
        <p:nvPicPr>
          <p:cNvPr id="7" name="Picture 6">
            <a:extLst>
              <a:ext uri="{FF2B5EF4-FFF2-40B4-BE49-F238E27FC236}">
                <a16:creationId xmlns:a16="http://schemas.microsoft.com/office/drawing/2014/main" id="{12B1FFAF-15C4-4051-9D7D-5CBEB5045C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042032" y="2098431"/>
            <a:ext cx="3991706" cy="2661137"/>
          </a:xfrm>
          <a:prstGeom prst="rect">
            <a:avLst/>
          </a:prstGeom>
        </p:spPr>
      </p:pic>
      <p:pic>
        <p:nvPicPr>
          <p:cNvPr id="9" name="Picture 8">
            <a:extLst>
              <a:ext uri="{FF2B5EF4-FFF2-40B4-BE49-F238E27FC236}">
                <a16:creationId xmlns:a16="http://schemas.microsoft.com/office/drawing/2014/main" id="{E6624CF2-00FD-4227-B1B6-A56615C8A8C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4267201"/>
            <a:ext cx="3886199" cy="2590799"/>
          </a:xfrm>
          <a:prstGeom prst="rect">
            <a:avLst/>
          </a:prstGeom>
        </p:spPr>
      </p:pic>
      <p:sp>
        <p:nvSpPr>
          <p:cNvPr id="11" name="TextBox 10">
            <a:extLst>
              <a:ext uri="{FF2B5EF4-FFF2-40B4-BE49-F238E27FC236}">
                <a16:creationId xmlns:a16="http://schemas.microsoft.com/office/drawing/2014/main" id="{88252589-0D17-487A-9FDB-8C4F11F0AD30}"/>
              </a:ext>
            </a:extLst>
          </p:cNvPr>
          <p:cNvSpPr txBox="1"/>
          <p:nvPr/>
        </p:nvSpPr>
        <p:spPr>
          <a:xfrm>
            <a:off x="3886198" y="685801"/>
            <a:ext cx="7957039" cy="1200329"/>
          </a:xfrm>
          <a:prstGeom prst="rect">
            <a:avLst/>
          </a:prstGeom>
          <a:noFill/>
        </p:spPr>
        <p:txBody>
          <a:bodyPr wrap="square" rtlCol="0">
            <a:spAutoFit/>
          </a:bodyPr>
          <a:lstStyle/>
          <a:p>
            <a:r>
              <a:rPr lang="en-US" dirty="0"/>
              <a:t>Graph 2:</a:t>
            </a:r>
          </a:p>
          <a:p>
            <a:r>
              <a:rPr lang="en-US" dirty="0"/>
              <a:t>‘eta’ momentum  of all the particle information given.</a:t>
            </a:r>
          </a:p>
          <a:p>
            <a:r>
              <a:rPr lang="en-US" dirty="0"/>
              <a:t> The graph is more like a full mountain, which depicts that all the values are </a:t>
            </a:r>
            <a:r>
              <a:rPr lang="en-US" b="1" dirty="0"/>
              <a:t>evenly distributed </a:t>
            </a:r>
            <a:r>
              <a:rPr lang="en-US" dirty="0"/>
              <a:t>around the mean of the data given.</a:t>
            </a:r>
          </a:p>
        </p:txBody>
      </p:sp>
      <p:sp>
        <p:nvSpPr>
          <p:cNvPr id="12" name="TextBox 11">
            <a:extLst>
              <a:ext uri="{FF2B5EF4-FFF2-40B4-BE49-F238E27FC236}">
                <a16:creationId xmlns:a16="http://schemas.microsoft.com/office/drawing/2014/main" id="{0EF7F068-4AD8-408F-B2F4-D2AE8890C656}"/>
              </a:ext>
            </a:extLst>
          </p:cNvPr>
          <p:cNvSpPr txBox="1"/>
          <p:nvPr/>
        </p:nvSpPr>
        <p:spPr>
          <a:xfrm>
            <a:off x="669678" y="2716824"/>
            <a:ext cx="7480791" cy="1754326"/>
          </a:xfrm>
          <a:prstGeom prst="rect">
            <a:avLst/>
          </a:prstGeom>
          <a:noFill/>
        </p:spPr>
        <p:txBody>
          <a:bodyPr wrap="square" rtlCol="0">
            <a:spAutoFit/>
          </a:bodyPr>
          <a:lstStyle/>
          <a:p>
            <a:r>
              <a:rPr lang="en-US" dirty="0"/>
              <a:t>Graph 3:</a:t>
            </a:r>
          </a:p>
          <a:p>
            <a:r>
              <a:rPr lang="en-US" dirty="0"/>
              <a:t>‘phi’ momentum of all the particle information given.</a:t>
            </a:r>
          </a:p>
          <a:p>
            <a:r>
              <a:rPr lang="en-US" dirty="0"/>
              <a:t>The standard deviation from table 1, is highest of all, which tells that the data is more scattered and thus instead of having a mountain type structure we have more continuous </a:t>
            </a:r>
            <a:r>
              <a:rPr lang="en-US" b="1" dirty="0"/>
              <a:t>small-building </a:t>
            </a:r>
            <a:r>
              <a:rPr lang="en-US" dirty="0"/>
              <a:t>type structure.</a:t>
            </a:r>
          </a:p>
          <a:p>
            <a:endParaRPr lang="en-IN" dirty="0"/>
          </a:p>
        </p:txBody>
      </p:sp>
      <p:sp>
        <p:nvSpPr>
          <p:cNvPr id="13" name="TextBox 12">
            <a:extLst>
              <a:ext uri="{FF2B5EF4-FFF2-40B4-BE49-F238E27FC236}">
                <a16:creationId xmlns:a16="http://schemas.microsoft.com/office/drawing/2014/main" id="{E8EFF0A0-0260-444A-9521-33972C4BCEF3}"/>
              </a:ext>
            </a:extLst>
          </p:cNvPr>
          <p:cNvSpPr txBox="1"/>
          <p:nvPr/>
        </p:nvSpPr>
        <p:spPr>
          <a:xfrm>
            <a:off x="4440115" y="4759568"/>
            <a:ext cx="7209693" cy="1754326"/>
          </a:xfrm>
          <a:prstGeom prst="rect">
            <a:avLst/>
          </a:prstGeom>
          <a:noFill/>
        </p:spPr>
        <p:txBody>
          <a:bodyPr wrap="square" rtlCol="0">
            <a:spAutoFit/>
          </a:bodyPr>
          <a:lstStyle/>
          <a:p>
            <a:r>
              <a:rPr lang="en-US" dirty="0"/>
              <a:t>Graph 4:</a:t>
            </a:r>
          </a:p>
          <a:p>
            <a:r>
              <a:rPr lang="en-US" dirty="0"/>
              <a:t>‘m’ momentum of all the particle information given.</a:t>
            </a:r>
          </a:p>
          <a:p>
            <a:r>
              <a:rPr lang="en-US" dirty="0"/>
              <a:t>The mean of the ‘m’ from table 1, is very less around 0.1, this depicts that more data points are in between x</a:t>
            </a:r>
            <a:r>
              <a:rPr lang="en-US" sz="900" dirty="0"/>
              <a:t>min</a:t>
            </a:r>
            <a:r>
              <a:rPr lang="en-US" dirty="0"/>
              <a:t> and x</a:t>
            </a:r>
            <a:r>
              <a:rPr lang="en-US" sz="900" dirty="0"/>
              <a:t>mean</a:t>
            </a:r>
            <a:r>
              <a:rPr lang="en-US" dirty="0"/>
              <a:t>  as compared to x</a:t>
            </a:r>
            <a:r>
              <a:rPr lang="en-US" sz="900" dirty="0"/>
              <a:t>max</a:t>
            </a:r>
            <a:r>
              <a:rPr lang="en-US" dirty="0"/>
              <a:t> and x</a:t>
            </a:r>
            <a:r>
              <a:rPr lang="en-US" sz="900" dirty="0"/>
              <a:t>mean </a:t>
            </a:r>
            <a:endParaRPr lang="en-US" dirty="0"/>
          </a:p>
          <a:p>
            <a:r>
              <a:rPr lang="en-US" dirty="0"/>
              <a:t> .This unevenness in the data around the mean  makes the graph a </a:t>
            </a:r>
            <a:r>
              <a:rPr lang="en-US" b="1" dirty="0"/>
              <a:t>Half-mountain </a:t>
            </a:r>
            <a:r>
              <a:rPr lang="en-US" dirty="0"/>
              <a:t>type. 	</a:t>
            </a:r>
          </a:p>
        </p:txBody>
      </p:sp>
    </p:spTree>
    <p:extLst>
      <p:ext uri="{BB962C8B-B14F-4D97-AF65-F5344CB8AC3E}">
        <p14:creationId xmlns:p14="http://schemas.microsoft.com/office/powerpoint/2010/main" val="228089847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8DB744D-E1C3-4DEF-A5A0-E2A92C81D3DA}"/>
              </a:ext>
            </a:extLst>
          </p:cNvPr>
          <p:cNvSpPr txBox="1"/>
          <p:nvPr/>
        </p:nvSpPr>
        <p:spPr>
          <a:xfrm>
            <a:off x="149470" y="298939"/>
            <a:ext cx="11456377" cy="1200329"/>
          </a:xfrm>
          <a:prstGeom prst="rect">
            <a:avLst/>
          </a:prstGeom>
          <a:noFill/>
        </p:spPr>
        <p:txBody>
          <a:bodyPr wrap="square" rtlCol="0">
            <a:spAutoFit/>
          </a:bodyPr>
          <a:lstStyle/>
          <a:p>
            <a:r>
              <a:rPr lang="en-US" dirty="0"/>
              <a:t>The train dataset was now fed to train the already – provided autoencoder.</a:t>
            </a:r>
          </a:p>
          <a:p>
            <a:r>
              <a:rPr lang="en-US" dirty="0"/>
              <a:t>The test dataset was given to check the efficiency of the autoencoder.</a:t>
            </a:r>
          </a:p>
          <a:p>
            <a:r>
              <a:rPr lang="en-US" dirty="0"/>
              <a:t>The following graphs were obtained when the predicted momentum and already given momentum of test dataset were compared</a:t>
            </a:r>
            <a:endParaRPr lang="en-IN" dirty="0"/>
          </a:p>
        </p:txBody>
      </p:sp>
      <p:pic>
        <p:nvPicPr>
          <p:cNvPr id="6" name="Picture 5">
            <a:extLst>
              <a:ext uri="{FF2B5EF4-FFF2-40B4-BE49-F238E27FC236}">
                <a16:creationId xmlns:a16="http://schemas.microsoft.com/office/drawing/2014/main" id="{EC47DE38-C53A-416C-B1AB-39C6DF013E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78389" y="1354838"/>
            <a:ext cx="3321575" cy="2214383"/>
          </a:xfrm>
          <a:prstGeom prst="rect">
            <a:avLst/>
          </a:prstGeom>
        </p:spPr>
      </p:pic>
      <p:pic>
        <p:nvPicPr>
          <p:cNvPr id="8" name="Picture 7">
            <a:extLst>
              <a:ext uri="{FF2B5EF4-FFF2-40B4-BE49-F238E27FC236}">
                <a16:creationId xmlns:a16="http://schemas.microsoft.com/office/drawing/2014/main" id="{CC183FDA-E758-4C1E-BF10-4FDEA0E062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84272" y="1354838"/>
            <a:ext cx="3321575" cy="2214383"/>
          </a:xfrm>
          <a:prstGeom prst="rect">
            <a:avLst/>
          </a:prstGeom>
        </p:spPr>
      </p:pic>
      <p:pic>
        <p:nvPicPr>
          <p:cNvPr id="10" name="Picture 9">
            <a:extLst>
              <a:ext uri="{FF2B5EF4-FFF2-40B4-BE49-F238E27FC236}">
                <a16:creationId xmlns:a16="http://schemas.microsoft.com/office/drawing/2014/main" id="{C6579085-687B-4210-94F5-0AB9125D36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06509" y="4009600"/>
            <a:ext cx="3293455" cy="2195636"/>
          </a:xfrm>
          <a:prstGeom prst="rect">
            <a:avLst/>
          </a:prstGeom>
        </p:spPr>
      </p:pic>
      <p:pic>
        <p:nvPicPr>
          <p:cNvPr id="12" name="Picture 11">
            <a:extLst>
              <a:ext uri="{FF2B5EF4-FFF2-40B4-BE49-F238E27FC236}">
                <a16:creationId xmlns:a16="http://schemas.microsoft.com/office/drawing/2014/main" id="{8D65695E-FA6D-4291-8392-A8088DF906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499964" y="4009599"/>
            <a:ext cx="3293456" cy="2195637"/>
          </a:xfrm>
          <a:prstGeom prst="rect">
            <a:avLst/>
          </a:prstGeom>
        </p:spPr>
      </p:pic>
      <p:sp>
        <p:nvSpPr>
          <p:cNvPr id="13" name="TextBox 12">
            <a:extLst>
              <a:ext uri="{FF2B5EF4-FFF2-40B4-BE49-F238E27FC236}">
                <a16:creationId xmlns:a16="http://schemas.microsoft.com/office/drawing/2014/main" id="{378D8859-9743-442B-9E61-AED1E809B429}"/>
              </a:ext>
            </a:extLst>
          </p:cNvPr>
          <p:cNvSpPr txBox="1"/>
          <p:nvPr/>
        </p:nvSpPr>
        <p:spPr>
          <a:xfrm>
            <a:off x="290146" y="1644162"/>
            <a:ext cx="4888243" cy="1754326"/>
          </a:xfrm>
          <a:prstGeom prst="rect">
            <a:avLst/>
          </a:prstGeom>
          <a:noFill/>
        </p:spPr>
        <p:txBody>
          <a:bodyPr wrap="square" rtlCol="0">
            <a:spAutoFit/>
          </a:bodyPr>
          <a:lstStyle/>
          <a:p>
            <a:pPr marL="285750" indent="-285750">
              <a:buFont typeface="Arial" panose="020B0604020202020204" pitchFamily="34" charset="0"/>
              <a:buChar char="•"/>
            </a:pPr>
            <a:r>
              <a:rPr lang="en-US" dirty="0"/>
              <a:t>The orange line given are the </a:t>
            </a:r>
            <a:r>
              <a:rPr lang="en-US" b="1" dirty="0"/>
              <a:t>predicted momentum </a:t>
            </a:r>
            <a:r>
              <a:rPr lang="en-US" dirty="0"/>
              <a:t>one.</a:t>
            </a:r>
          </a:p>
          <a:p>
            <a:pPr marL="285750" indent="-285750">
              <a:buFont typeface="Arial" panose="020B0604020202020204" pitchFamily="34" charset="0"/>
              <a:buChar char="•"/>
            </a:pPr>
            <a:r>
              <a:rPr lang="en-US" dirty="0"/>
              <a:t>The cyan line given are the actual one.</a:t>
            </a:r>
          </a:p>
          <a:p>
            <a:pPr marL="285750" indent="-285750">
              <a:buFont typeface="Arial" panose="020B0604020202020204" pitchFamily="34" charset="0"/>
              <a:buChar char="•"/>
            </a:pPr>
            <a:r>
              <a:rPr lang="en-US" dirty="0"/>
              <a:t>The yellow-greenish region is the region of overlap, this region tells how much the predicted and actual momentum meet.</a:t>
            </a:r>
          </a:p>
        </p:txBody>
      </p:sp>
      <p:sp>
        <p:nvSpPr>
          <p:cNvPr id="14" name="TextBox 13">
            <a:extLst>
              <a:ext uri="{FF2B5EF4-FFF2-40B4-BE49-F238E27FC236}">
                <a16:creationId xmlns:a16="http://schemas.microsoft.com/office/drawing/2014/main" id="{CE6ABBFD-E567-40CF-9537-F8616DC96B19}"/>
              </a:ext>
            </a:extLst>
          </p:cNvPr>
          <p:cNvSpPr txBox="1"/>
          <p:nvPr/>
        </p:nvSpPr>
        <p:spPr>
          <a:xfrm>
            <a:off x="386722" y="3459513"/>
            <a:ext cx="4554416" cy="3139321"/>
          </a:xfrm>
          <a:prstGeom prst="rect">
            <a:avLst/>
          </a:prstGeom>
          <a:noFill/>
        </p:spPr>
        <p:txBody>
          <a:bodyPr wrap="square" rtlCol="0">
            <a:spAutoFit/>
          </a:bodyPr>
          <a:lstStyle/>
          <a:p>
            <a:r>
              <a:rPr lang="en-US" dirty="0"/>
              <a:t>As we can see from the graph, the yellowish- greenish region is predominant in all of the graph, which clearly depicts that our encoding-decoding compression algorithm has worked very well,</a:t>
            </a:r>
          </a:p>
          <a:p>
            <a:r>
              <a:rPr lang="en-US" dirty="0"/>
              <a:t>This inference is also depicted when validity of the predicted value were compared with the code, the value obtained is less than 0.001, which tells that our compression algorithm worked very well.</a:t>
            </a:r>
          </a:p>
          <a:p>
            <a:endParaRPr lang="en-US" dirty="0"/>
          </a:p>
        </p:txBody>
      </p:sp>
      <p:pic>
        <p:nvPicPr>
          <p:cNvPr id="16" name="Picture 15">
            <a:extLst>
              <a:ext uri="{FF2B5EF4-FFF2-40B4-BE49-F238E27FC236}">
                <a16:creationId xmlns:a16="http://schemas.microsoft.com/office/drawing/2014/main" id="{0F022E86-613A-4969-B4EC-7EAFB3E36481}"/>
              </a:ext>
            </a:extLst>
          </p:cNvPr>
          <p:cNvPicPr>
            <a:picLocks noChangeAspect="1"/>
          </p:cNvPicPr>
          <p:nvPr/>
        </p:nvPicPr>
        <p:blipFill>
          <a:blip r:embed="rId6"/>
          <a:stretch>
            <a:fillRect/>
          </a:stretch>
        </p:blipFill>
        <p:spPr>
          <a:xfrm>
            <a:off x="2297718" y="5958758"/>
            <a:ext cx="2133785" cy="701101"/>
          </a:xfrm>
          <a:prstGeom prst="rect">
            <a:avLst/>
          </a:prstGeom>
        </p:spPr>
      </p:pic>
    </p:spTree>
    <p:extLst>
      <p:ext uri="{BB962C8B-B14F-4D97-AF65-F5344CB8AC3E}">
        <p14:creationId xmlns:p14="http://schemas.microsoft.com/office/powerpoint/2010/main" val="70260182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183</TotalTime>
  <Words>952</Words>
  <Application>Microsoft Office PowerPoint</Application>
  <PresentationFormat>Widescreen</PresentationFormat>
  <Paragraphs>90</Paragraphs>
  <Slides>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vt:i4>
      </vt:variant>
    </vt:vector>
  </HeadingPairs>
  <TitlesOfParts>
    <vt:vector size="11" baseType="lpstr">
      <vt:lpstr>Arial</vt:lpstr>
      <vt:lpstr>Calibri</vt:lpstr>
      <vt:lpstr>Calibri Light</vt:lpstr>
      <vt:lpstr>Wingdings</vt:lpstr>
      <vt:lpstr>Office Theme</vt:lpstr>
      <vt:lpstr>GSoC -2021  Project – “Deep autoencoders for ATLAS data compression”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GSoC -2021  Project – “Deep autoencoders for ATLAS data compression”</dc:title>
  <dc:creator>Vidit Ostwal</dc:creator>
  <cp:lastModifiedBy>Vidit Ostwal</cp:lastModifiedBy>
  <cp:revision>18</cp:revision>
  <dcterms:created xsi:type="dcterms:W3CDTF">2021-03-12T03:18:31Z</dcterms:created>
  <dcterms:modified xsi:type="dcterms:W3CDTF">2021-03-12T06:22:24Z</dcterms:modified>
</cp:coreProperties>
</file>